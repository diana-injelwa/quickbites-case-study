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2433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F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" name="Shape 1"/>
          <p:cNvSpPr/>
          <p:nvPr/>
        </p:nvSpPr>
        <p:spPr>
          <a:xfrm>
            <a:off x="0" y="3840480"/>
            <a:ext cx="9144000" cy="27432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1440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5544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QuickBite Ghost Kitchen Analysis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48640" y="26517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We Expand, What's Happening in Eastleigh and How to Optimize the Menu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 |  6 Months of Operational Data  |  21,363 Orders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key findings from 6 months of data across Kilimani, Westlands, and Eastleigh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73152" cy="9144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7" name="Text 4"/>
          <p:cNvSpPr/>
          <p:nvPr/>
        </p:nvSpPr>
        <p:spPr>
          <a:xfrm>
            <a:off x="937260" y="1699261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 Selectively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2065021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kitchens are profitable. Prioritize low-rent, low-competition neighborhoods (like Eastleigh).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674621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Shape 7"/>
          <p:cNvSpPr/>
          <p:nvPr/>
        </p:nvSpPr>
        <p:spPr>
          <a:xfrm>
            <a:off x="548640" y="2651760"/>
            <a:ext cx="73152" cy="9144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914400" y="2766061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Eastleigh Open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914400" y="3131821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Eastleigh is #2 in profit (KES 722K), growing fastest (+38% in 6 months), and has the best customer ratings (4.13/5).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74904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5" name="Shape 11"/>
          <p:cNvSpPr/>
          <p:nvPr/>
        </p:nvSpPr>
        <p:spPr>
          <a:xfrm>
            <a:off x="548640" y="3749040"/>
            <a:ext cx="73152" cy="9144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7" name="Text 12"/>
          <p:cNvSpPr/>
          <p:nvPr/>
        </p:nvSpPr>
        <p:spPr>
          <a:xfrm>
            <a:off x="937260" y="38404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Optimize the Menu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37260" y="42062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high-margin Samosa/Mandazi add-ons, promote Nyama Choma in Eastleigh, and test removing low-performing items.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Q1: Should QuickBite Expand?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Three Ghost Kitchens Are Profitable Over 6 Months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103632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Ingredient Costs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Costs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Kilimani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6.4M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2.5M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2.4M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1.6M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Eastleigh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3.6M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1.4M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1.9M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722K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4.8M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1.8M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2.7M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387K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Eastleigh is nearly 2x more profitable than Westlands despite having the lowest revenue.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3840480"/>
            <a:ext cx="25603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9" name="Text 5"/>
          <p:cNvSpPr/>
          <p:nvPr/>
        </p:nvSpPr>
        <p:spPr>
          <a:xfrm>
            <a:off x="54864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KES 1.6M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48640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Kilimani Profit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383280" y="3840480"/>
            <a:ext cx="25603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2" name="Text 8"/>
          <p:cNvSpPr/>
          <p:nvPr/>
        </p:nvSpPr>
        <p:spPr>
          <a:xfrm>
            <a:off x="338328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KES 722K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3383280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Eastleigh Profit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17920" y="3840480"/>
            <a:ext cx="256032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5" name="Text 11"/>
          <p:cNvSpPr/>
          <p:nvPr/>
        </p:nvSpPr>
        <p:spPr>
          <a:xfrm>
            <a:off x="6217920" y="38862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KES 387K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6217920" y="43891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Westlands Profit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a Location Work?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37576" cy="161544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Eastleigh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(Most Efficient)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Kilimani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(Highest Revenue)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Westlands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(Least Profitable)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Profit (6 mo)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722K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1.6M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387K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Fixed Costs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313K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408K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455K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Delivery-Only Competitors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QuickBite Rating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4.13 /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 /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 /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Delivery Time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min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3474720"/>
            <a:ext cx="80467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7" name="Shape 3"/>
          <p:cNvSpPr/>
          <p:nvPr/>
        </p:nvSpPr>
        <p:spPr>
          <a:xfrm>
            <a:off x="548640" y="3474720"/>
            <a:ext cx="73152" cy="13716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8" name="Text 4"/>
          <p:cNvSpPr/>
          <p:nvPr/>
        </p:nvSpPr>
        <p:spPr>
          <a:xfrm>
            <a:off x="82296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Expansion Recommendation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393192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neighborhoods that resemble Eastleigh: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rent (under KES 150K/mo) | Few delivery-only competitors (under 5) | Underserved by quality delivery (competitor ratings below 4.0)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"Westlands-type" markets:  high rent and crowded competition compress margins despite decent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Q2: The Real Story with Eastleigh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CFO sees low volume. The data tells a different story.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3840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840480" cy="4572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CFO's View (Volume)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574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total orders: 6,637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avg order value: KES 597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total revenue: KES 3.6M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554480"/>
            <a:ext cx="384048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1" name="Shape 8"/>
          <p:cNvSpPr/>
          <p:nvPr/>
        </p:nvSpPr>
        <p:spPr>
          <a:xfrm>
            <a:off x="4754880" y="1554480"/>
            <a:ext cx="3840480" cy="45720"/>
          </a:xfrm>
          <a:prstGeom prst="rect">
            <a:avLst/>
          </a:prstGeom>
          <a:solidFill>
            <a:srgbClr val="4A9E6B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2" name="Text 9"/>
          <p:cNvSpPr/>
          <p:nvPr/>
        </p:nvSpPr>
        <p:spPr>
          <a:xfrm>
            <a:off x="5029200" y="1691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GM's View (Quality &amp; Growth)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0" y="20574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rating: 4.13/5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delivery: 56 min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net profit: KES 722K (2x Westlands)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delivery-only competitors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9184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5" name="Text 12"/>
          <p:cNvSpPr/>
          <p:nvPr/>
        </p:nvSpPr>
        <p:spPr>
          <a:xfrm>
            <a:off x="548640" y="33375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548640" y="3840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Rating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(Best of all 3)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651760" y="329184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8" name="Text 15"/>
          <p:cNvSpPr/>
          <p:nvPr/>
        </p:nvSpPr>
        <p:spPr>
          <a:xfrm>
            <a:off x="2651760" y="33375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 min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2651760" y="3840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(13 min faster than Kilimani)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754880" y="329184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1" name="Text 18"/>
          <p:cNvSpPr/>
          <p:nvPr/>
        </p:nvSpPr>
        <p:spPr>
          <a:xfrm>
            <a:off x="4754880" y="33375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+38%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754880" y="3840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Growth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(Aug '24 to Jan '25)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858000" y="3291840"/>
            <a:ext cx="192024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24" name="Text 21"/>
          <p:cNvSpPr/>
          <p:nvPr/>
        </p:nvSpPr>
        <p:spPr>
          <a:xfrm>
            <a:off x="6858000" y="33375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KES 722K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858000" y="38404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Profit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(2x Westlands)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Verdict: Eastleigh is more profitable than Westlands and growing.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Eastleigh Is the Only Location With Consistent Growth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20979" y="3086100"/>
            <a:ext cx="4363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Month-over-Month Order Growth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601215"/>
              </p:ext>
            </p:extLst>
          </p:nvPr>
        </p:nvGraphicFramePr>
        <p:xfrm>
          <a:off x="220980" y="3497580"/>
          <a:ext cx="4351019" cy="1371600"/>
        </p:xfrm>
        <a:graphic>
          <a:graphicData uri="http://schemas.openxmlformats.org/drawingml/2006/table">
            <a:tbl>
              <a:tblPr/>
              <a:tblGrid>
                <a:gridCol w="9626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94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94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Eastleigh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Kilimani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 '24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'24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'24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 '24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 '25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853939" y="3086100"/>
            <a:ext cx="41376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Breakeven Safety Buffer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0683290"/>
              </p:ext>
            </p:extLst>
          </p:nvPr>
        </p:nvGraphicFramePr>
        <p:xfrm>
          <a:off x="4853940" y="3497580"/>
          <a:ext cx="4137661" cy="1363980"/>
        </p:xfrm>
        <a:graphic>
          <a:graphicData uri="http://schemas.openxmlformats.org/drawingml/2006/table">
            <a:tbl>
              <a:tblPr/>
              <a:tblGrid>
                <a:gridCol w="13386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08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Breakeven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Eastleigh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799/mo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82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Kilimani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807/mo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969/mo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DF010B1B-8425-9754-7124-A3FC78BD1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" y="960120"/>
            <a:ext cx="8770620" cy="2072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Eastleigh Recommendation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not shut down Eastleigh. It is the 2nd most profitable kitchen and the only one growing consistently.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73152" cy="9144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Keep Eastleigh open with a clear target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GM 3 more months. Set a milestone: reach 1,300 orders/month by month 9. The current trajectory (922 to 1,270) suggests this is achievable.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Shape 8"/>
          <p:cNvSpPr/>
          <p:nvPr/>
        </p:nvSpPr>
        <p:spPr>
          <a:xfrm>
            <a:off x="548640" y="2880360"/>
            <a:ext cx="73152" cy="9144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Invest modestly in local marketing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2918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Eastleigh's growth is organic with only 3 delivery competitors. A small marketing push could accelerate an already positive trend.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804672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73152" cy="91440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5" name="Text 13"/>
          <p:cNvSpPr/>
          <p:nvPr/>
        </p:nvSpPr>
        <p:spPr>
          <a:xfrm>
            <a:off x="822960" y="400507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If cuts are needed, scrutinize Westlands first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43434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Westlands has the highest costs (KES 455K/mo), most competition (12 delivery-only), thinnest margins (KES 387K net), and sits just 14% above breakeven.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Q3: Menu Item Performance Matrix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05840"/>
          <a:ext cx="7132320" cy="25146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 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KES/min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Nyama Choma Platter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Samosa (6pc)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Mandazi (4pc)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4A9E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Chicken Biriyani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330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270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Ugali &amp; Fish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300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Bhajia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Chips Masala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170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D4A0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Githeri Special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230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Matoke &amp; Beef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KES 290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Star = High popularity + High efficiency  |  Opportunity = Room to improve  |  Drag = Low popularity + Low efficiency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3" name="Text 1"/>
          <p:cNvSpPr/>
          <p:nvPr/>
        </p:nvSpPr>
        <p:spPr>
          <a:xfrm>
            <a:off x="54864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Menu Optimizations to Test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5" name="Shape 3"/>
          <p:cNvSpPr/>
          <p:nvPr/>
        </p:nvSpPr>
        <p:spPr>
          <a:xfrm>
            <a:off x="777240" y="1325880"/>
            <a:ext cx="548640" cy="5486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6" name="Text 4"/>
          <p:cNvSpPr/>
          <p:nvPr/>
        </p:nvSpPr>
        <p:spPr>
          <a:xfrm>
            <a:off x="7772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1887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Samosa &amp; Mandazi upsell at checkout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15544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Stars: 70-73% margin, 8-10 min prep, highest kitchen efficiency. Test "Add to any order for KES 150" prompt. Minimal kitchen impact, pure margin boost.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80467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Shape 8"/>
          <p:cNvSpPr/>
          <p:nvPr/>
        </p:nvSpPr>
        <p:spPr>
          <a:xfrm>
            <a:off x="777240" y="2606040"/>
            <a:ext cx="548640" cy="5486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24688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Launch Nyama Choma Platter meal deal in Eastleigh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54480" y="28346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margin item (KES 500/order) but only 418 orders in Eastleigh vs 2,887 in Kilimani. Bundle with a side to drive trial. Huge untapped revenue.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80467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5" name="Shape 13"/>
          <p:cNvSpPr/>
          <p:nvPr/>
        </p:nvSpPr>
        <p:spPr>
          <a:xfrm>
            <a:off x="777240" y="3886200"/>
            <a:ext cx="548640" cy="548640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6" name="Text 14"/>
          <p:cNvSpPr/>
          <p:nvPr/>
        </p:nvSpPr>
        <p:spPr>
          <a:xfrm>
            <a:off x="77724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37490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removing Matoke &amp; Beef and Githeri Special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4114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Drags: bottom 4 in popularity AND bottom 2 in prep efficiency (KES 10.4-10.5/min). Remove for 1 month, measure impact on total orders and kitchen throughput.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3B2F2F"/>
          </a:solidFill>
          <a:ln/>
        </p:spPr>
        <p:txBody>
          <a:bodyPr/>
          <a:lstStyle/>
          <a:p>
            <a:endParaRPr lang="en-KE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Impact on Operations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Rain reduces orders by 27% and increases delivery times by 30% across all locations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-27%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Rainy Days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155448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0" name="Text 7"/>
          <p:cNvSpPr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+30%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38328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Time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Rainy Days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217920" y="1554480"/>
            <a:ext cx="256032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3" name="Text 10"/>
          <p:cNvSpPr/>
          <p:nvPr/>
        </p:nvSpPr>
        <p:spPr>
          <a:xfrm>
            <a:off x="6217920" y="1600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-27%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217920" y="21945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Rainy Days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KE"/>
          </a:p>
        </p:txBody>
      </p:sp>
      <p:sp>
        <p:nvSpPr>
          <p:cNvPr id="16" name="Shape 13"/>
          <p:cNvSpPr/>
          <p:nvPr/>
        </p:nvSpPr>
        <p:spPr>
          <a:xfrm>
            <a:off x="548640" y="2926080"/>
            <a:ext cx="73152" cy="731520"/>
          </a:xfrm>
          <a:prstGeom prst="rect">
            <a:avLst/>
          </a:prstGeom>
          <a:solidFill>
            <a:srgbClr val="B85042"/>
          </a:solidFill>
          <a:ln/>
        </p:spPr>
        <p:txBody>
          <a:bodyPr/>
          <a:lstStyle/>
          <a:p>
            <a:endParaRPr lang="en-KE"/>
          </a:p>
        </p:txBody>
      </p:sp>
      <p:sp>
        <p:nvSpPr>
          <p:cNvPr id="17" name="Text 14"/>
          <p:cNvSpPr/>
          <p:nvPr/>
        </p:nvSpPr>
        <p:spPr>
          <a:xfrm>
            <a:off x="822960" y="301752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Eastleigh is the most weather-resilient: its rainy-day delivery time (69.5 min) is still faster than Kilimani's dry-day average (64.9 min).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48640" y="3840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D2D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Weather Recommendations: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42062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"rainy day" promotions triggered by weather forecasts to offset the 27% order drop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extra delivery riders on forecast rain days to protect delivery times and ratings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dynamic delivery fees on rainy days to cover increased delivery costs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1081</Words>
  <Application>Microsoft Office PowerPoint</Application>
  <PresentationFormat>On-screen Show (16:9)</PresentationFormat>
  <Paragraphs>257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QuickBite Ghost Kitchen Analysis</dc:title>
  <dc:subject>PptxGenJS Presentation</dc:subject>
  <dc:creator>Diana - Data Analyst</dc:creator>
  <cp:lastModifiedBy>Diana Injelwa</cp:lastModifiedBy>
  <cp:revision>3</cp:revision>
  <dcterms:created xsi:type="dcterms:W3CDTF">2026-02-25T15:31:17Z</dcterms:created>
  <dcterms:modified xsi:type="dcterms:W3CDTF">2026-08-15T07:18:48Z</dcterms:modified>
</cp:coreProperties>
</file>